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C5D37D1-4463-47B9-877C-2503AA78D5A0}"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184883D-0E91-4999-94D0-883C2368743A}"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lang="en-US" sz="4400" b="0" u="none" strike="noStrike">
                <a:solidFill>
                  <a:schemeClr val="dk1"/>
                </a:solidFill>
                <a:effectLst/>
                <a:uFillTx/>
                <a:latin typeface="Calibri"/>
              </a:rPr>
              <a:t>Cl</a:t>
            </a:r>
            <a:r>
              <a:rPr lang="en-US" sz="4400" b="0" u="none" strike="noStrike">
                <a:solidFill>
                  <a:schemeClr val="dk1"/>
                </a:solidFill>
                <a:effectLst/>
                <a:uFillTx/>
                <a:latin typeface="Calibri"/>
              </a:rPr>
              <a:t>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er </a:t>
            </a:r>
            <a:r>
              <a:rPr lang="en-US" sz="4400" b="0" u="none" strike="noStrike">
                <a:solidFill>
                  <a:schemeClr val="dk1"/>
                </a:solidFill>
                <a:effectLst/>
                <a:uFillTx/>
                <a:latin typeface="Calibri"/>
              </a:rPr>
              <a:t>tit</a:t>
            </a:r>
            <a:r>
              <a:rPr lang="en-US" sz="4400" b="0" u="none" strike="noStrike">
                <a:solidFill>
                  <a:schemeClr val="dk1"/>
                </a:solidFill>
                <a:effectLst/>
                <a:uFillTx/>
                <a:latin typeface="Calibri"/>
              </a:rPr>
              <a:t>le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05AF02E-9499-4D12-AFFE-B10DB2B75683}"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0E1D917-9836-454A-87F9-70F21E6B4354}"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lang="en-US" sz="4000" b="1" u="none" strike="noStrike" cap="all">
                <a:solidFill>
                  <a:schemeClr val="dk1"/>
                </a:solidFill>
                <a:effectLst/>
                <a:uFillTx/>
                <a:latin typeface="Calibri"/>
              </a:rPr>
              <a:t>Click to </a:t>
            </a:r>
            <a:r>
              <a:rPr lang="en-US" sz="4000" b="1" u="none" strike="noStrike" cap="all">
                <a:solidFill>
                  <a:schemeClr val="dk1"/>
                </a:solidFill>
                <a:effectLst/>
                <a:uFillTx/>
                <a:latin typeface="Calibri"/>
              </a:rPr>
              <a:t>edit </a:t>
            </a:r>
            <a:r>
              <a:rPr lang="en-US" sz="4000" b="1" u="none" strike="noStrike" cap="all">
                <a:solidFill>
                  <a:schemeClr val="dk1"/>
                </a:solidFill>
                <a:effectLst/>
                <a:uFillTx/>
                <a:latin typeface="Calibri"/>
              </a:rPr>
              <a:t>Master </a:t>
            </a:r>
            <a:r>
              <a:rPr lang="en-US" sz="4000" b="1" u="none" strike="noStrike" cap="all">
                <a:solidFill>
                  <a:schemeClr val="dk1"/>
                </a:solidFill>
                <a:effectLst/>
                <a:uFillTx/>
                <a:latin typeface="Calibri"/>
              </a:rPr>
              <a:t>title </a:t>
            </a:r>
            <a:r>
              <a:rPr lang="en-US" sz="4000" b="1" u="none" strike="noStrike" cap="all">
                <a:solidFill>
                  <a:schemeClr val="dk1"/>
                </a:solidFill>
                <a:effectLst/>
                <a:uFillTx/>
                <a:latin typeface="Calibri"/>
              </a:rPr>
              <a:t>style</a:t>
            </a:r>
            <a:endParaRPr lang="en-US" sz="4000" b="0" u="none" strike="noStrike">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74224C2-2A3D-4A4A-BCB8-62BB2EC5220B}"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6B4475B-E64F-4F48-AFFF-EE0A037D6132}"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4163FD4-4332-4D83-BDAC-22C9F3105138}"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2316895-615B-4F84-A2E0-AA3874C62B83}"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558A6DD-CA07-4489-8B3B-FF46D92B7BA0}"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3C686C7-F241-437F-A298-BD98916B820F}"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9A6455A-4E32-41D2-B72E-C61AC30FCE8D}"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TextBox 1"/>
          <p:cNvSpPr/>
          <p:nvPr/>
        </p:nvSpPr>
        <p:spPr>
          <a:xfrm>
            <a:off x="1554480" y="1920240"/>
            <a:ext cx="9052200" cy="26157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2600" b="1" u="none" strike="noStrike">
                <a:solidFill>
                  <a:srgbClr val="000000"/>
                </a:solidFill>
                <a:effectLst/>
                <a:uFillTx/>
                <a:latin typeface="Georgia"/>
              </a:rPr>
              <a:t>OT/IIoT cybersecurity and</a:t>
            </a:r>
            <a:br>
              <a:rPr sz="1800"/>
            </a:br>
            <a:r>
              <a:rPr lang="en-US" sz="2600" b="1" u="none" strike="noStrike">
                <a:solidFill>
                  <a:srgbClr val="000000"/>
                </a:solidFill>
                <a:effectLst/>
                <a:uFillTx/>
                <a:latin typeface="Georgia"/>
              </a:rPr>
              <a:t>Zero Trust for smart factories:</a:t>
            </a:r>
            <a:endParaRPr lang="en-GB" sz="2600" b="0" u="none" strike="noStrike">
              <a:solidFill>
                <a:srgbClr val="000000"/>
              </a:solidFill>
              <a:effectLst/>
              <a:uFillTx/>
              <a:latin typeface="Arial"/>
            </a:endParaRPr>
          </a:p>
          <a:p>
            <a:pPr algn="ctr" defTabSz="457200">
              <a:lnSpc>
                <a:spcPct val="100000"/>
              </a:lnSpc>
            </a:pPr>
            <a:r>
              <a:rPr lang="en-US" sz="2800" b="0" u="none" strike="noStrike">
                <a:solidFill>
                  <a:schemeClr val="dk1"/>
                </a:solidFill>
                <a:effectLst/>
                <a:uFillTx/>
                <a:latin typeface="Georgia"/>
              </a:rPr>
              <a:t>The mediating role of secure access and microsegmentation and</a:t>
            </a:r>
            <a:br>
              <a:rPr sz="2800"/>
            </a:br>
            <a:r>
              <a:rPr lang="en-US" sz="2800" b="0" u="none" strike="noStrike">
                <a:solidFill>
                  <a:schemeClr val="dk1"/>
                </a:solidFill>
                <a:effectLst/>
                <a:uFillTx/>
                <a:latin typeface="Georgia"/>
              </a:rPr>
              <a:t>the moderating role of legacy system complexity and standards alignment</a:t>
            </a:r>
            <a:endParaRPr lang="en-GB" sz="2800" b="0" u="none" strike="noStrike">
              <a:solidFill>
                <a:srgbClr val="000000"/>
              </a:solidFill>
              <a:effectLst/>
              <a:uFillTx/>
              <a:latin typeface="Arial"/>
            </a:endParaRPr>
          </a:p>
        </p:txBody>
      </p:sp>
      <p:sp>
        <p:nvSpPr>
          <p:cNvPr id="62" name="TextBox 2"/>
          <p:cNvSpPr/>
          <p:nvPr/>
        </p:nvSpPr>
        <p:spPr>
          <a:xfrm>
            <a:off x="7169040" y="5257800"/>
            <a:ext cx="4306320" cy="338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000000"/>
                </a:solidFill>
                <a:effectLst/>
                <a:uFillTx/>
                <a:latin typeface="Georgia"/>
              </a:rPr>
              <a:t>Javohir To'rayev 220044</a:t>
            </a:r>
            <a:endParaRPr lang="en-GB" sz="1700" b="0" u="none" strike="noStrike">
              <a:solidFill>
                <a:srgbClr val="000000"/>
              </a:solidFill>
              <a:effectLst/>
              <a:uFillTx/>
              <a:latin typeface="Arial"/>
            </a:endParaRPr>
          </a:p>
        </p:txBody>
      </p:sp>
      <p:sp>
        <p:nvSpPr>
          <p:cNvPr id="63" name="TextBox 3"/>
          <p:cNvSpPr/>
          <p:nvPr/>
        </p:nvSpPr>
        <p:spPr>
          <a:xfrm>
            <a:off x="7169040" y="5669280"/>
            <a:ext cx="4260600" cy="338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Supervisor: Mohammed Tareq</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Introduction</a:t>
            </a:r>
            <a:endParaRPr lang="en-GB" sz="2400" b="0" u="none" strike="noStrike">
              <a:solidFill>
                <a:srgbClr val="000000"/>
              </a:solidFill>
              <a:effectLst/>
              <a:uFillTx/>
              <a:latin typeface="Arial"/>
            </a:endParaRPr>
          </a:p>
        </p:txBody>
      </p:sp>
      <p:sp>
        <p:nvSpPr>
          <p:cNvPr id="65" name="TextBox 2"/>
          <p:cNvSpPr/>
          <p:nvPr/>
        </p:nvSpPr>
        <p:spPr>
          <a:xfrm>
            <a:off x="1069920" y="1097280"/>
            <a:ext cx="10240920" cy="521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Research background</a:t>
            </a:r>
            <a:endParaRPr lang="en-GB"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 Smart factories depend on connected OT/IIoT systems, remote access, gateways, and data sharing, which expand cyber exposure.</a:t>
            </a:r>
            <a:endParaRPr lang="en-GB"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 Traditional perimeter security is insufficient because industrial environments require continuous verification across users, devices, and flows.</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800" b="1" u="none" strike="noStrike">
                <a:solidFill>
                  <a:srgbClr val="000000"/>
                </a:solidFill>
                <a:effectLst/>
                <a:uFillTx/>
                <a:latin typeface="Georgia"/>
              </a:rPr>
              <a:t>Research problem</a:t>
            </a:r>
            <a:endParaRPr lang="en-GB"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 Zero Trust is widely recommended for industrial environments, but implementation in real factories is difficult because of legacy assets, vendor access, production priorities, and governance constraints.</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800" b="1" u="none" strike="noStrike">
                <a:solidFill>
                  <a:srgbClr val="000000"/>
                </a:solidFill>
                <a:effectLst/>
                <a:uFillTx/>
                <a:latin typeface="Georgia"/>
              </a:rPr>
              <a:t>Research gap</a:t>
            </a:r>
            <a:endParaRPr lang="en-GB"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 Previous studies often address Zero Trust, OT/IIoT threats, legacy modernization, or standards separately rather than in one integrated smart-factory model.</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800" b="1" u="none" strike="noStrike">
                <a:solidFill>
                  <a:srgbClr val="000000"/>
                </a:solidFill>
                <a:effectLst/>
                <a:uFillTx/>
                <a:latin typeface="Georgia"/>
              </a:rPr>
              <a:t>Objective and significance</a:t>
            </a:r>
            <a:endParaRPr lang="en-GB"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 Develop a conceptual, survey-ready model linking Zero Trust maturity to OT cyber resilience through secure access and microsegmentation, with legacy complexity and standards alignment as path-specific conditions.</a:t>
            </a:r>
            <a:endParaRPr lang="en-GB"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 Offer a practical framework and roadmap for factories that need stronger security without disrupting safety and production.</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Research model</a:t>
            </a:r>
            <a:endParaRPr lang="en-GB" sz="2400" b="0" u="none" strike="noStrike">
              <a:solidFill>
                <a:srgbClr val="000000"/>
              </a:solidFill>
              <a:effectLst/>
              <a:uFillTx/>
              <a:latin typeface="Arial"/>
            </a:endParaRPr>
          </a:p>
        </p:txBody>
      </p:sp>
      <p:sp>
        <p:nvSpPr>
          <p:cNvPr id="67" name="Oval 2"/>
          <p:cNvSpPr/>
          <p:nvPr/>
        </p:nvSpPr>
        <p:spPr>
          <a:xfrm>
            <a:off x="777240" y="2743200"/>
            <a:ext cx="2057040" cy="1051200"/>
          </a:xfrm>
          <a:prstGeom prst="ellipse">
            <a:avLst/>
          </a:prstGeom>
          <a:solidFill>
            <a:srgbClr val="ffffff"/>
          </a:solidFill>
          <a:ln w="1905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500" b="1" u="none" strike="noStrike">
                <a:solidFill>
                  <a:srgbClr val="000000"/>
                </a:solidFill>
                <a:effectLst/>
                <a:uFillTx/>
                <a:latin typeface="Georgia"/>
              </a:rPr>
              <a:t>Zero Trust maturity</a:t>
            </a:r>
            <a:endParaRPr lang="en-GB" sz="1500" b="0" u="none" strike="noStrike">
              <a:solidFill>
                <a:srgbClr val="000000"/>
              </a:solidFill>
              <a:effectLst/>
              <a:uFillTx/>
              <a:latin typeface="Arial"/>
            </a:endParaRPr>
          </a:p>
          <a:p>
            <a:pPr algn="ctr" defTabSz="457200">
              <a:lnSpc>
                <a:spcPct val="100000"/>
              </a:lnSpc>
            </a:pPr>
            <a:r>
              <a:rPr lang="en-US" sz="1100" b="0" u="none" strike="noStrike">
                <a:solidFill>
                  <a:srgbClr val="000000"/>
                </a:solidFill>
                <a:effectLst/>
                <a:uFillTx/>
                <a:latin typeface="Georgia"/>
              </a:rPr>
              <a:t>(IV)</a:t>
            </a:r>
            <a:endParaRPr lang="en-GB" sz="1100" b="0" u="none" strike="noStrike">
              <a:solidFill>
                <a:srgbClr val="000000"/>
              </a:solidFill>
              <a:effectLst/>
              <a:uFillTx/>
              <a:latin typeface="Arial"/>
            </a:endParaRPr>
          </a:p>
        </p:txBody>
      </p:sp>
      <p:sp>
        <p:nvSpPr>
          <p:cNvPr id="68" name="Rounded Rectangle 3"/>
          <p:cNvSpPr/>
          <p:nvPr/>
        </p:nvSpPr>
        <p:spPr>
          <a:xfrm>
            <a:off x="4160520" y="2697480"/>
            <a:ext cx="2468520" cy="1023840"/>
          </a:xfrm>
          <a:prstGeom prst="roundRect">
            <a:avLst>
              <a:gd name="adj" fmla="val 16667"/>
            </a:avLst>
          </a:prstGeom>
          <a:solidFill>
            <a:srgbClr val="ffffff"/>
          </a:solidFill>
          <a:ln w="1905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000000"/>
                </a:solidFill>
                <a:effectLst/>
                <a:uFillTx/>
                <a:latin typeface="Georgia"/>
              </a:rPr>
              <a:t>Secure access and</a:t>
            </a:r>
            <a:endParaRPr lang="en-GB" sz="1400" b="0" u="none" strike="noStrike">
              <a:solidFill>
                <a:srgbClr val="000000"/>
              </a:solidFill>
              <a:effectLst/>
              <a:uFillTx/>
              <a:latin typeface="Arial"/>
            </a:endParaRPr>
          </a:p>
          <a:p>
            <a:pPr algn="ctr" defTabSz="457200">
              <a:lnSpc>
                <a:spcPct val="100000"/>
              </a:lnSpc>
            </a:pPr>
            <a:r>
              <a:rPr lang="en-US" sz="1400" b="1" u="none" strike="noStrike">
                <a:solidFill>
                  <a:srgbClr val="000000"/>
                </a:solidFill>
                <a:effectLst/>
                <a:uFillTx/>
                <a:latin typeface="Georgia"/>
              </a:rPr>
              <a:t>microsegmentation</a:t>
            </a:r>
            <a:endParaRPr lang="en-GB" sz="1400" b="0" u="none" strike="noStrike">
              <a:solidFill>
                <a:srgbClr val="000000"/>
              </a:solidFill>
              <a:effectLst/>
              <a:uFillTx/>
              <a:latin typeface="Arial"/>
            </a:endParaRPr>
          </a:p>
          <a:p>
            <a:pPr algn="ctr" defTabSz="457200">
              <a:lnSpc>
                <a:spcPct val="100000"/>
              </a:lnSpc>
            </a:pPr>
            <a:r>
              <a:rPr lang="en-US" sz="1000" b="0" u="none" strike="noStrike">
                <a:solidFill>
                  <a:srgbClr val="000000"/>
                </a:solidFill>
                <a:effectLst/>
                <a:uFillTx/>
                <a:latin typeface="Georgia"/>
              </a:rPr>
              <a:t>(Mediator)</a:t>
            </a:r>
            <a:endParaRPr lang="en-GB" sz="1000" b="0" u="none" strike="noStrike">
              <a:solidFill>
                <a:srgbClr val="000000"/>
              </a:solidFill>
              <a:effectLst/>
              <a:uFillTx/>
              <a:latin typeface="Arial"/>
            </a:endParaRPr>
          </a:p>
        </p:txBody>
      </p:sp>
      <p:sp>
        <p:nvSpPr>
          <p:cNvPr id="69" name="Oval 4"/>
          <p:cNvSpPr/>
          <p:nvPr/>
        </p:nvSpPr>
        <p:spPr>
          <a:xfrm>
            <a:off x="8641080" y="2743200"/>
            <a:ext cx="2331360" cy="1096920"/>
          </a:xfrm>
          <a:prstGeom prst="ellipse">
            <a:avLst/>
          </a:prstGeom>
          <a:solidFill>
            <a:srgbClr val="ffffff"/>
          </a:solidFill>
          <a:ln w="1905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500" b="1" u="none" strike="noStrike">
                <a:solidFill>
                  <a:srgbClr val="000000"/>
                </a:solidFill>
                <a:effectLst/>
                <a:uFillTx/>
                <a:latin typeface="Georgia"/>
              </a:rPr>
              <a:t>OT cyber</a:t>
            </a:r>
            <a:endParaRPr lang="en-GB" sz="1500" b="0" u="none" strike="noStrike">
              <a:solidFill>
                <a:srgbClr val="000000"/>
              </a:solidFill>
              <a:effectLst/>
              <a:uFillTx/>
              <a:latin typeface="Arial"/>
            </a:endParaRPr>
          </a:p>
          <a:p>
            <a:pPr algn="ctr" defTabSz="457200">
              <a:lnSpc>
                <a:spcPct val="100000"/>
              </a:lnSpc>
            </a:pPr>
            <a:r>
              <a:rPr lang="en-US" sz="1400" b="1" u="none" strike="noStrike">
                <a:solidFill>
                  <a:srgbClr val="000000"/>
                </a:solidFill>
                <a:effectLst/>
                <a:uFillTx/>
                <a:latin typeface="Georgia"/>
              </a:rPr>
              <a:t>resilience</a:t>
            </a:r>
            <a:endParaRPr lang="en-GB" sz="1400" b="0" u="none" strike="noStrike">
              <a:solidFill>
                <a:srgbClr val="000000"/>
              </a:solidFill>
              <a:effectLst/>
              <a:uFillTx/>
              <a:latin typeface="Arial"/>
            </a:endParaRPr>
          </a:p>
          <a:p>
            <a:pPr algn="ctr" defTabSz="457200">
              <a:lnSpc>
                <a:spcPct val="100000"/>
              </a:lnSpc>
            </a:pPr>
            <a:r>
              <a:rPr lang="en-US" sz="1100" b="0" u="none" strike="noStrike">
                <a:solidFill>
                  <a:srgbClr val="000000"/>
                </a:solidFill>
                <a:effectLst/>
                <a:uFillTx/>
                <a:latin typeface="Georgia"/>
              </a:rPr>
              <a:t>(DV)</a:t>
            </a:r>
            <a:endParaRPr lang="en-GB" sz="1100" b="0" u="none" strike="noStrike">
              <a:solidFill>
                <a:srgbClr val="000000"/>
              </a:solidFill>
              <a:effectLst/>
              <a:uFillTx/>
              <a:latin typeface="Arial"/>
            </a:endParaRPr>
          </a:p>
        </p:txBody>
      </p:sp>
      <p:sp>
        <p:nvSpPr>
          <p:cNvPr id="70" name="Rounded Rectangle 5"/>
          <p:cNvSpPr/>
          <p:nvPr/>
        </p:nvSpPr>
        <p:spPr>
          <a:xfrm>
            <a:off x="6492240" y="1143000"/>
            <a:ext cx="2788560" cy="804240"/>
          </a:xfrm>
          <a:prstGeom prst="roundRect">
            <a:avLst>
              <a:gd name="adj" fmla="val 16667"/>
            </a:avLst>
          </a:prstGeom>
          <a:solidFill>
            <a:srgbClr val="ffffff"/>
          </a:solidFill>
          <a:ln w="1905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000000"/>
                </a:solidFill>
                <a:effectLst/>
                <a:uFillTx/>
                <a:latin typeface="Georgia"/>
              </a:rPr>
              <a:t>Standards alignment</a:t>
            </a:r>
            <a:endParaRPr lang="en-GB" sz="1400" b="0" u="none" strike="noStrike">
              <a:solidFill>
                <a:srgbClr val="000000"/>
              </a:solidFill>
              <a:effectLst/>
              <a:uFillTx/>
              <a:latin typeface="Arial"/>
            </a:endParaRPr>
          </a:p>
          <a:p>
            <a:pPr algn="ctr" defTabSz="457200">
              <a:lnSpc>
                <a:spcPct val="100000"/>
              </a:lnSpc>
            </a:pPr>
            <a:r>
              <a:rPr lang="en-US" sz="1000" b="0" u="none" strike="noStrike">
                <a:solidFill>
                  <a:srgbClr val="000000"/>
                </a:solidFill>
                <a:effectLst/>
                <a:uFillTx/>
                <a:latin typeface="Georgia"/>
              </a:rPr>
              <a:t>(Moderator, +)</a:t>
            </a:r>
            <a:endParaRPr lang="en-GB" sz="1000" b="0" u="none" strike="noStrike">
              <a:solidFill>
                <a:srgbClr val="000000"/>
              </a:solidFill>
              <a:effectLst/>
              <a:uFillTx/>
              <a:latin typeface="Arial"/>
            </a:endParaRPr>
          </a:p>
        </p:txBody>
      </p:sp>
      <p:sp>
        <p:nvSpPr>
          <p:cNvPr id="71" name="Rounded Rectangle 6"/>
          <p:cNvSpPr/>
          <p:nvPr/>
        </p:nvSpPr>
        <p:spPr>
          <a:xfrm>
            <a:off x="1783080" y="4617720"/>
            <a:ext cx="3154320" cy="840960"/>
          </a:xfrm>
          <a:prstGeom prst="roundRect">
            <a:avLst>
              <a:gd name="adj" fmla="val 16667"/>
            </a:avLst>
          </a:prstGeom>
          <a:solidFill>
            <a:srgbClr val="ffffff"/>
          </a:solidFill>
          <a:ln w="1905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lang="en-US" sz="1400" b="1" u="none" strike="noStrike">
                <a:solidFill>
                  <a:srgbClr val="000000"/>
                </a:solidFill>
                <a:effectLst/>
                <a:uFillTx/>
                <a:latin typeface="Georgia"/>
              </a:rPr>
              <a:t>Legacy system complexity</a:t>
            </a:r>
            <a:endParaRPr lang="en-GB" sz="1400" b="0" u="none" strike="noStrike">
              <a:solidFill>
                <a:srgbClr val="000000"/>
              </a:solidFill>
              <a:effectLst/>
              <a:uFillTx/>
              <a:latin typeface="Arial"/>
            </a:endParaRPr>
          </a:p>
          <a:p>
            <a:pPr algn="ctr" defTabSz="457200">
              <a:lnSpc>
                <a:spcPct val="100000"/>
              </a:lnSpc>
            </a:pPr>
            <a:r>
              <a:rPr lang="en-US" sz="1000" b="0" u="none" strike="noStrike">
                <a:solidFill>
                  <a:srgbClr val="000000"/>
                </a:solidFill>
                <a:effectLst/>
                <a:uFillTx/>
                <a:latin typeface="Georgia"/>
              </a:rPr>
              <a:t>(Moderator, -)</a:t>
            </a:r>
            <a:endParaRPr lang="en-GB" sz="1000" b="0" u="none" strike="noStrike">
              <a:solidFill>
                <a:srgbClr val="000000"/>
              </a:solidFill>
              <a:effectLst/>
              <a:uFillTx/>
              <a:latin typeface="Arial"/>
            </a:endParaRPr>
          </a:p>
        </p:txBody>
      </p:sp>
      <p:sp>
        <p:nvSpPr>
          <p:cNvPr id="72" name="Hexagon 7"/>
          <p:cNvSpPr/>
          <p:nvPr/>
        </p:nvSpPr>
        <p:spPr>
          <a:xfrm>
            <a:off x="5962680" y="4572000"/>
            <a:ext cx="3226680" cy="1533240"/>
          </a:xfrm>
          <a:prstGeom prst="hexagon">
            <a:avLst>
              <a:gd name="adj" fmla="val 25000"/>
              <a:gd name="vf" fmla="val 115470"/>
            </a:avLst>
          </a:prstGeom>
          <a:solidFill>
            <a:srgbClr val="ffffff"/>
          </a:solidFill>
          <a:ln w="1651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lang="en-US" sz="1400" b="1" u="none" strike="noStrike">
                <a:solidFill>
                  <a:srgbClr val="000000"/>
                </a:solidFill>
                <a:effectLst/>
                <a:uFillTx/>
                <a:latin typeface="Georgia"/>
              </a:rPr>
              <a:t>Control variables</a:t>
            </a:r>
            <a:endParaRPr lang="en-GB" sz="14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Georgia"/>
              </a:rPr>
              <a:t>Organization size</a:t>
            </a:r>
            <a:endParaRPr lang="en-GB" sz="11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Georgia"/>
              </a:rPr>
              <a:t>Industry sector</a:t>
            </a:r>
            <a:endParaRPr lang="en-GB" sz="11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Georgia"/>
              </a:rPr>
              <a:t>Smart-factory maturity</a:t>
            </a:r>
            <a:endParaRPr lang="en-GB" sz="1100" b="0" u="none" strike="noStrike">
              <a:solidFill>
                <a:srgbClr val="000000"/>
              </a:solidFill>
              <a:effectLst/>
              <a:uFillTx/>
              <a:latin typeface="Arial"/>
            </a:endParaRPr>
          </a:p>
          <a:p>
            <a:pPr defTabSz="457200">
              <a:lnSpc>
                <a:spcPct val="100000"/>
              </a:lnSpc>
            </a:pPr>
            <a:r>
              <a:rPr lang="en-US" sz="1100" b="0" u="none" strike="noStrike">
                <a:solidFill>
                  <a:srgbClr val="000000"/>
                </a:solidFill>
                <a:effectLst/>
                <a:uFillTx/>
                <a:latin typeface="Georgia"/>
              </a:rPr>
              <a:t>Formal OT cybersecurity program</a:t>
            </a:r>
            <a:endParaRPr lang="en-GB" sz="1100" b="0" u="none" strike="noStrike">
              <a:solidFill>
                <a:srgbClr val="000000"/>
              </a:solidFill>
              <a:effectLst/>
              <a:uFillTx/>
              <a:latin typeface="Arial"/>
            </a:endParaRPr>
          </a:p>
        </p:txBody>
      </p:sp>
      <p:sp>
        <p:nvSpPr>
          <p:cNvPr id="73" name="Right Arrow 8"/>
          <p:cNvSpPr/>
          <p:nvPr/>
        </p:nvSpPr>
        <p:spPr>
          <a:xfrm>
            <a:off x="2834640" y="3127320"/>
            <a:ext cx="1325520" cy="255600"/>
          </a:xfrm>
          <a:prstGeom prst="rightArrow">
            <a:avLst>
              <a:gd name="adj1" fmla="val 50000"/>
              <a:gd name="adj2" fmla="val 50000"/>
            </a:avLst>
          </a:prstGeom>
          <a:solidFill>
            <a:srgbClr val="ffffff"/>
          </a:solidFill>
          <a:ln w="1651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4" name="Right Arrow 9"/>
          <p:cNvSpPr/>
          <p:nvPr/>
        </p:nvSpPr>
        <p:spPr>
          <a:xfrm>
            <a:off x="6629400" y="3127320"/>
            <a:ext cx="2011320" cy="255600"/>
          </a:xfrm>
          <a:prstGeom prst="rightArrow">
            <a:avLst>
              <a:gd name="adj1" fmla="val 50000"/>
              <a:gd name="adj2" fmla="val 50000"/>
            </a:avLst>
          </a:prstGeom>
          <a:solidFill>
            <a:srgbClr val="ffffff"/>
          </a:solidFill>
          <a:ln w="1651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cxnSp>
        <p:nvCxnSpPr>
          <p:cNvPr id="75" name="Connector 11"/>
          <p:cNvCxnSpPr/>
          <p:nvPr/>
        </p:nvCxnSpPr>
        <p:spPr>
          <a:xfrm>
            <a:off x="7891200" y="1947600"/>
            <a:ext cx="360" cy="1253160"/>
          </a:xfrm>
          <a:prstGeom prst="straightConnector1">
            <a:avLst/>
          </a:prstGeom>
          <a:ln w="16510">
            <a:solidFill>
              <a:srgbClr val="000000"/>
            </a:solidFill>
            <a:round/>
          </a:ln>
        </p:spPr>
      </p:cxnSp>
      <p:cxnSp>
        <p:nvCxnSpPr>
          <p:cNvPr id="76" name="Connector 12"/>
          <p:cNvCxnSpPr/>
          <p:nvPr/>
        </p:nvCxnSpPr>
        <p:spPr>
          <a:xfrm flipV="1">
            <a:off x="3383280" y="3305160"/>
            <a:ext cx="360" cy="1312920"/>
          </a:xfrm>
          <a:prstGeom prst="straightConnector1">
            <a:avLst/>
          </a:prstGeom>
          <a:ln w="16510">
            <a:solidFill>
              <a:srgbClr val="000000"/>
            </a:solidFill>
            <a:round/>
          </a:ln>
        </p:spPr>
      </p:cxnSp>
      <p:cxnSp>
        <p:nvCxnSpPr>
          <p:cNvPr id="77" name="Connector 13"/>
          <p:cNvCxnSpPr>
            <a:stCxn id="72" idx="0"/>
          </p:cNvCxnSpPr>
          <p:nvPr/>
        </p:nvCxnSpPr>
        <p:spPr>
          <a:xfrm flipH="1" flipV="1">
            <a:off x="9144000" y="3721320"/>
            <a:ext cx="45720" cy="1617840"/>
          </a:xfrm>
          <a:prstGeom prst="straightConnector1">
            <a:avLst/>
          </a:prstGeom>
          <a:ln w="16510">
            <a:solidFill>
              <a:srgbClr val="000000"/>
            </a:solidFill>
            <a:round/>
          </a:ln>
        </p:spPr>
      </p:cxn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Literature review: theoretical foundation</a:t>
            </a:r>
            <a:endParaRPr lang="en-GB" sz="2400" b="0" u="none" strike="noStrike">
              <a:solidFill>
                <a:srgbClr val="000000"/>
              </a:solidFill>
              <a:effectLst/>
              <a:uFillTx/>
              <a:latin typeface="Arial"/>
            </a:endParaRPr>
          </a:p>
        </p:txBody>
      </p:sp>
      <p:sp>
        <p:nvSpPr>
          <p:cNvPr id="79" name="TextBox 2"/>
          <p:cNvSpPr/>
          <p:nvPr/>
        </p:nvSpPr>
        <p:spPr>
          <a:xfrm>
            <a:off x="960120" y="1188720"/>
            <a:ext cx="10058040" cy="5303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1. Socio-technical systems perspective</a:t>
            </a:r>
            <a:endParaRPr lang="en-GB"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Factories combine people, processes, governance, and technology, so cybersecurity change cannot be treated as a purely technical project (Abu Bakar et al., 2021, 2022).</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800" b="1" u="none" strike="noStrike">
                <a:solidFill>
                  <a:srgbClr val="000000"/>
                </a:solidFill>
                <a:effectLst/>
                <a:uFillTx/>
                <a:latin typeface="Georgia"/>
              </a:rPr>
              <a:t>2. Defense-in-depth and least privilege</a:t>
            </a:r>
            <a:endParaRPr lang="en-GB"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OT security relies on segmentation, zones, conduits, and controlled access; Zero Trust extends this logic by making enforcement more identity-aware and context-aware (Rose et al., 2020; Stouffer et al., 2023; ISA/IEC 62443).</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800" b="1" u="none" strike="noStrike">
                <a:solidFill>
                  <a:srgbClr val="000000"/>
                </a:solidFill>
                <a:effectLst/>
                <a:uFillTx/>
                <a:latin typeface="Georgia"/>
              </a:rPr>
              <a:t>3. Cyber resilience perspective</a:t>
            </a:r>
            <a:endParaRPr lang="en-GB"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The outcome is not only technical protection, but the ability to prevent, detect, respond to, and recover from cyber incidents while preserving safety and production continuity (NIST, 2024).</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Literature review: key constructs</a:t>
            </a:r>
            <a:endParaRPr lang="en-GB" sz="2400" b="0" u="none" strike="noStrike">
              <a:solidFill>
                <a:srgbClr val="000000"/>
              </a:solidFill>
              <a:effectLst/>
              <a:uFillTx/>
              <a:latin typeface="Arial"/>
            </a:endParaRPr>
          </a:p>
        </p:txBody>
      </p:sp>
      <p:sp>
        <p:nvSpPr>
          <p:cNvPr id="81" name="TextBox 2"/>
          <p:cNvSpPr/>
          <p:nvPr/>
        </p:nvSpPr>
        <p:spPr>
          <a:xfrm>
            <a:off x="1051560" y="1234440"/>
            <a:ext cx="3657240" cy="292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Zero Trust maturity</a:t>
            </a:r>
            <a:endParaRPr lang="en-GB" sz="1800" b="0" u="none" strike="noStrike">
              <a:solidFill>
                <a:srgbClr val="000000"/>
              </a:solidFill>
              <a:effectLst/>
              <a:uFillTx/>
              <a:latin typeface="Arial"/>
            </a:endParaRPr>
          </a:p>
        </p:txBody>
      </p:sp>
      <p:sp>
        <p:nvSpPr>
          <p:cNvPr id="82" name="TextBox 3"/>
          <p:cNvSpPr/>
          <p:nvPr/>
        </p:nvSpPr>
        <p:spPr>
          <a:xfrm>
            <a:off x="1143000" y="1572840"/>
            <a:ext cx="4571640" cy="987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Extent to which a factory applies continuous verification, least privilege, identity-centered access, segmentation, asset knowledge, and monitoring across OT/IIoT environments (Rose et al., 2020; CISA, 2023a).</a:t>
            </a:r>
            <a:endParaRPr lang="en-GB" sz="1600" b="0" u="none" strike="noStrike">
              <a:solidFill>
                <a:srgbClr val="000000"/>
              </a:solidFill>
              <a:effectLst/>
              <a:uFillTx/>
              <a:latin typeface="Arial"/>
            </a:endParaRPr>
          </a:p>
        </p:txBody>
      </p:sp>
      <p:sp>
        <p:nvSpPr>
          <p:cNvPr id="83" name="TextBox 4"/>
          <p:cNvSpPr/>
          <p:nvPr/>
        </p:nvSpPr>
        <p:spPr>
          <a:xfrm>
            <a:off x="6172200" y="1234440"/>
            <a:ext cx="3657240" cy="292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OT cyber resilience</a:t>
            </a:r>
            <a:endParaRPr lang="en-GB" sz="1800" b="0" u="none" strike="noStrike">
              <a:solidFill>
                <a:srgbClr val="000000"/>
              </a:solidFill>
              <a:effectLst/>
              <a:uFillTx/>
              <a:latin typeface="Arial"/>
            </a:endParaRPr>
          </a:p>
        </p:txBody>
      </p:sp>
      <p:sp>
        <p:nvSpPr>
          <p:cNvPr id="84" name="TextBox 5"/>
          <p:cNvSpPr/>
          <p:nvPr/>
        </p:nvSpPr>
        <p:spPr>
          <a:xfrm>
            <a:off x="6263640" y="1572840"/>
            <a:ext cx="4205880" cy="987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Ability to maintain or restore safe and reliable production under cyber stress, including detection, response, recovery, and continuity (NIST, 2024; Stouffer et al., 2023).</a:t>
            </a:r>
            <a:endParaRPr lang="en-GB" sz="1600" b="0" u="none" strike="noStrike">
              <a:solidFill>
                <a:srgbClr val="000000"/>
              </a:solidFill>
              <a:effectLst/>
              <a:uFillTx/>
              <a:latin typeface="Arial"/>
            </a:endParaRPr>
          </a:p>
        </p:txBody>
      </p:sp>
      <p:sp>
        <p:nvSpPr>
          <p:cNvPr id="85" name="TextBox 6"/>
          <p:cNvSpPr/>
          <p:nvPr/>
        </p:nvSpPr>
        <p:spPr>
          <a:xfrm>
            <a:off x="1051560" y="2971800"/>
            <a:ext cx="4729680" cy="36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Secure access and microsegmentation</a:t>
            </a:r>
            <a:endParaRPr lang="en-GB" sz="1800" b="0" u="none" strike="noStrike">
              <a:solidFill>
                <a:srgbClr val="000000"/>
              </a:solidFill>
              <a:effectLst/>
              <a:uFillTx/>
              <a:latin typeface="Arial"/>
            </a:endParaRPr>
          </a:p>
        </p:txBody>
      </p:sp>
      <p:sp>
        <p:nvSpPr>
          <p:cNvPr id="86" name="TextBox 7"/>
          <p:cNvSpPr/>
          <p:nvPr/>
        </p:nvSpPr>
        <p:spPr>
          <a:xfrm>
            <a:off x="1143000" y="3310200"/>
            <a:ext cx="4571640" cy="100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This thesis treats secure access and microsegmentation as the main mediating mechanism because Zero Trust becomes operational through controlled access, segmentation, and constrained communication flows (Paul &amp; Rao, 2023; ISA/IEC 62443).</a:t>
            </a:r>
            <a:endParaRPr lang="en-GB" sz="1600" b="0" u="none" strike="noStrike">
              <a:solidFill>
                <a:srgbClr val="000000"/>
              </a:solidFill>
              <a:effectLst/>
              <a:uFillTx/>
              <a:latin typeface="Arial"/>
            </a:endParaRPr>
          </a:p>
        </p:txBody>
      </p:sp>
      <p:sp>
        <p:nvSpPr>
          <p:cNvPr id="87" name="TextBox 8"/>
          <p:cNvSpPr/>
          <p:nvPr/>
        </p:nvSpPr>
        <p:spPr>
          <a:xfrm>
            <a:off x="6172200" y="2971800"/>
            <a:ext cx="4968000" cy="36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Supporting capabilities and conditions</a:t>
            </a:r>
            <a:endParaRPr lang="en-GB" sz="1800" b="0" u="none" strike="noStrike">
              <a:solidFill>
                <a:srgbClr val="000000"/>
              </a:solidFill>
              <a:effectLst/>
              <a:uFillTx/>
              <a:latin typeface="Arial"/>
            </a:endParaRPr>
          </a:p>
        </p:txBody>
      </p:sp>
      <p:sp>
        <p:nvSpPr>
          <p:cNvPr id="88" name="TextBox 9"/>
          <p:cNvSpPr/>
          <p:nvPr/>
        </p:nvSpPr>
        <p:spPr>
          <a:xfrm>
            <a:off x="6263640" y="3310200"/>
            <a:ext cx="4297320" cy="156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Legacy system complexity weakens implementation of secure access, while standards alignment helps those controls translate into resilience more effectively (Abu Bakar et al., 2021; CISA, 2023a; ISA/IEC 62443).</a:t>
            </a:r>
            <a:endParaRPr lang="en-GB" sz="1600" b="0" u="none" strike="noStrike">
              <a:solidFill>
                <a:srgbClr val="000000"/>
              </a:solidFill>
              <a:effectLst/>
              <a:uFillTx/>
              <a:latin typeface="Arial"/>
            </a:endParaRPr>
          </a:p>
        </p:txBody>
      </p:sp>
      <p:sp>
        <p:nvSpPr>
          <p:cNvPr id="89" name="TextBox 10"/>
          <p:cNvSpPr/>
          <p:nvPr/>
        </p:nvSpPr>
        <p:spPr>
          <a:xfrm>
            <a:off x="1158120" y="5623560"/>
            <a:ext cx="9875160" cy="804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500" b="0" u="none" strike="noStrike">
                <a:solidFill>
                  <a:srgbClr val="707070"/>
                </a:solidFill>
                <a:effectLst/>
                <a:uFillTx/>
                <a:latin typeface="Georgia"/>
              </a:rPr>
              <a:t>These constructs are conceptually grounded in prior industrial cybersecurity literature. The contribution of this thesis is not inventing new variables, but integrating them into one smart-factory Zero Trust framework.</a:t>
            </a:r>
            <a:endParaRPr lang="en-GB"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Hypothesis 1 development</a:t>
            </a:r>
            <a:endParaRPr lang="en-GB" sz="2400" b="0" u="none" strike="noStrike">
              <a:solidFill>
                <a:srgbClr val="000000"/>
              </a:solidFill>
              <a:effectLst/>
              <a:uFillTx/>
              <a:latin typeface="Arial"/>
            </a:endParaRPr>
          </a:p>
        </p:txBody>
      </p:sp>
      <p:sp>
        <p:nvSpPr>
          <p:cNvPr id="91" name="TextBox 2"/>
          <p:cNvSpPr/>
          <p:nvPr/>
        </p:nvSpPr>
        <p:spPr>
          <a:xfrm>
            <a:off x="1005840" y="1234440"/>
            <a:ext cx="40230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Theoretical logic</a:t>
            </a:r>
            <a:endParaRPr lang="en-GB" sz="1800" b="0" u="none" strike="noStrike">
              <a:solidFill>
                <a:srgbClr val="000000"/>
              </a:solidFill>
              <a:effectLst/>
              <a:uFillTx/>
              <a:latin typeface="Arial"/>
            </a:endParaRPr>
          </a:p>
        </p:txBody>
      </p:sp>
      <p:sp>
        <p:nvSpPr>
          <p:cNvPr id="92" name="TextBox 3"/>
          <p:cNvSpPr/>
          <p:nvPr/>
        </p:nvSpPr>
        <p:spPr>
          <a:xfrm>
            <a:off x="1097280" y="1600200"/>
            <a:ext cx="9966600" cy="223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Zero Trust replaces implicit trust with continuous verification, least privilege, segmentation, and monitored access. In smart factories, these practices should reduce attack surface, improve anomaly detection, and strengthen the factory's ability to maintain safe and reliable operations after cyber events.</a:t>
            </a:r>
            <a:endParaRPr lang="en-GB" sz="1600" b="0" u="none" strike="noStrike">
              <a:solidFill>
                <a:srgbClr val="000000"/>
              </a:solidFill>
              <a:effectLst/>
              <a:uFillTx/>
              <a:latin typeface="Arial"/>
            </a:endParaRPr>
          </a:p>
        </p:txBody>
      </p:sp>
      <p:sp>
        <p:nvSpPr>
          <p:cNvPr id="93" name="TextBox 4"/>
          <p:cNvSpPr/>
          <p:nvPr/>
        </p:nvSpPr>
        <p:spPr>
          <a:xfrm>
            <a:off x="1005840" y="4069080"/>
            <a:ext cx="44802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Key supporting studies</a:t>
            </a:r>
            <a:endParaRPr lang="en-GB" sz="1800" b="0" u="none" strike="noStrike">
              <a:solidFill>
                <a:srgbClr val="000000"/>
              </a:solidFill>
              <a:effectLst/>
              <a:uFillTx/>
              <a:latin typeface="Arial"/>
            </a:endParaRPr>
          </a:p>
        </p:txBody>
      </p:sp>
      <p:sp>
        <p:nvSpPr>
          <p:cNvPr id="94" name="TextBox 5"/>
          <p:cNvSpPr/>
          <p:nvPr/>
        </p:nvSpPr>
        <p:spPr>
          <a:xfrm>
            <a:off x="1097280" y="4407480"/>
            <a:ext cx="9966600" cy="52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707070"/>
                </a:solidFill>
                <a:effectLst/>
                <a:uFillTx/>
                <a:latin typeface="Georgia"/>
              </a:rPr>
              <a:t>Based on Rose et al. (2020), Paul and Rao (2023), and Abdullahi and Lazarova-Molnar (2025).</a:t>
            </a:r>
            <a:endParaRPr lang="en-GB" sz="1600" b="0" u="none" strike="noStrike">
              <a:solidFill>
                <a:srgbClr val="000000"/>
              </a:solidFill>
              <a:effectLst/>
              <a:uFillTx/>
              <a:latin typeface="Arial"/>
            </a:endParaRPr>
          </a:p>
        </p:txBody>
      </p:sp>
      <p:sp>
        <p:nvSpPr>
          <p:cNvPr id="95" name="Rectangle 6"/>
          <p:cNvSpPr/>
          <p:nvPr/>
        </p:nvSpPr>
        <p:spPr>
          <a:xfrm>
            <a:off x="1051560" y="5193720"/>
            <a:ext cx="10012320" cy="939960"/>
          </a:xfrm>
          <a:prstGeom prst="rect">
            <a:avLst/>
          </a:prstGeom>
          <a:solidFill>
            <a:srgbClr val="e5e5e5"/>
          </a:solidFill>
          <a:ln w="1397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6" name="TextBox 7"/>
          <p:cNvSpPr/>
          <p:nvPr/>
        </p:nvSpPr>
        <p:spPr>
          <a:xfrm>
            <a:off x="1188720" y="5413320"/>
            <a:ext cx="9646560" cy="292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000000"/>
                </a:solidFill>
                <a:effectLst/>
                <a:uFillTx/>
                <a:latin typeface="Georgia"/>
              </a:rPr>
              <a:t>H1: Zero Trust implementation maturity is positively related to OT cyber resilience in smart factories.</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Hypothesis 2 development</a:t>
            </a:r>
            <a:endParaRPr lang="en-GB" sz="2400" b="0" u="none" strike="noStrike">
              <a:solidFill>
                <a:srgbClr val="000000"/>
              </a:solidFill>
              <a:effectLst/>
              <a:uFillTx/>
              <a:latin typeface="Arial"/>
            </a:endParaRPr>
          </a:p>
        </p:txBody>
      </p:sp>
      <p:sp>
        <p:nvSpPr>
          <p:cNvPr id="98" name="TextBox 2"/>
          <p:cNvSpPr/>
          <p:nvPr/>
        </p:nvSpPr>
        <p:spPr>
          <a:xfrm>
            <a:off x="1005840" y="1234440"/>
            <a:ext cx="40230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Theoretical logic</a:t>
            </a:r>
            <a:endParaRPr lang="en-GB" sz="1800" b="0" u="none" strike="noStrike">
              <a:solidFill>
                <a:srgbClr val="000000"/>
              </a:solidFill>
              <a:effectLst/>
              <a:uFillTx/>
              <a:latin typeface="Arial"/>
            </a:endParaRPr>
          </a:p>
        </p:txBody>
      </p:sp>
      <p:sp>
        <p:nvSpPr>
          <p:cNvPr id="99" name="TextBox 3"/>
          <p:cNvSpPr/>
          <p:nvPr/>
        </p:nvSpPr>
        <p:spPr>
          <a:xfrm>
            <a:off x="1097280" y="1600200"/>
            <a:ext cx="9966600" cy="223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A mature Zero Trust approach should produce stronger access-control practices, tighter approval logic, and more disciplined segmentation in OT environments. When Zero Trust maturity rises, factories are expected to implement secure remote access, constrained privilege, and approved communication boundaries more consistently.</a:t>
            </a:r>
            <a:endParaRPr lang="en-GB" sz="1600" b="0" u="none" strike="noStrike">
              <a:solidFill>
                <a:srgbClr val="000000"/>
              </a:solidFill>
              <a:effectLst/>
              <a:uFillTx/>
              <a:latin typeface="Arial"/>
            </a:endParaRPr>
          </a:p>
        </p:txBody>
      </p:sp>
      <p:sp>
        <p:nvSpPr>
          <p:cNvPr id="100" name="TextBox 4"/>
          <p:cNvSpPr/>
          <p:nvPr/>
        </p:nvSpPr>
        <p:spPr>
          <a:xfrm>
            <a:off x="1005840" y="4069080"/>
            <a:ext cx="44802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Key supporting studies</a:t>
            </a:r>
            <a:endParaRPr lang="en-GB" sz="1800" b="0" u="none" strike="noStrike">
              <a:solidFill>
                <a:srgbClr val="000000"/>
              </a:solidFill>
              <a:effectLst/>
              <a:uFillTx/>
              <a:latin typeface="Arial"/>
            </a:endParaRPr>
          </a:p>
        </p:txBody>
      </p:sp>
      <p:sp>
        <p:nvSpPr>
          <p:cNvPr id="101" name="TextBox 5"/>
          <p:cNvSpPr/>
          <p:nvPr/>
        </p:nvSpPr>
        <p:spPr>
          <a:xfrm>
            <a:off x="1097280" y="4407480"/>
            <a:ext cx="9966600" cy="52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707070"/>
                </a:solidFill>
                <a:effectLst/>
                <a:uFillTx/>
                <a:latin typeface="Georgia"/>
              </a:rPr>
              <a:t>Based on Rose et al. (2020), Paul and Rao (2023), CISA (2023a), and Stouffer et al. (2023).</a:t>
            </a:r>
            <a:endParaRPr lang="en-GB" sz="1600" b="0" u="none" strike="noStrike">
              <a:solidFill>
                <a:srgbClr val="000000"/>
              </a:solidFill>
              <a:effectLst/>
              <a:uFillTx/>
              <a:latin typeface="Arial"/>
            </a:endParaRPr>
          </a:p>
        </p:txBody>
      </p:sp>
      <p:sp>
        <p:nvSpPr>
          <p:cNvPr id="102" name="Rectangle 6"/>
          <p:cNvSpPr/>
          <p:nvPr/>
        </p:nvSpPr>
        <p:spPr>
          <a:xfrm>
            <a:off x="1051560" y="5193720"/>
            <a:ext cx="10012320" cy="987480"/>
          </a:xfrm>
          <a:prstGeom prst="rect">
            <a:avLst/>
          </a:prstGeom>
          <a:solidFill>
            <a:srgbClr val="e5e5e5"/>
          </a:solidFill>
          <a:ln w="1397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3" name="TextBox 7"/>
          <p:cNvSpPr/>
          <p:nvPr/>
        </p:nvSpPr>
        <p:spPr>
          <a:xfrm>
            <a:off x="1188720" y="5413320"/>
            <a:ext cx="9646560" cy="292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000000"/>
                </a:solidFill>
                <a:effectLst/>
                <a:uFillTx/>
                <a:latin typeface="Georgia"/>
              </a:rPr>
              <a:t>H2: Zero Trust maturity is positively related to the level of secure access and microsegmentation in smart factories.</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Hypothesis 3 development</a:t>
            </a:r>
            <a:endParaRPr lang="en-GB" sz="2400" b="0" u="none" strike="noStrike">
              <a:solidFill>
                <a:srgbClr val="000000"/>
              </a:solidFill>
              <a:effectLst/>
              <a:uFillTx/>
              <a:latin typeface="Arial"/>
            </a:endParaRPr>
          </a:p>
        </p:txBody>
      </p:sp>
      <p:sp>
        <p:nvSpPr>
          <p:cNvPr id="105" name="TextBox 2"/>
          <p:cNvSpPr/>
          <p:nvPr/>
        </p:nvSpPr>
        <p:spPr>
          <a:xfrm>
            <a:off x="1005840" y="1234440"/>
            <a:ext cx="40230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Theoretical logic</a:t>
            </a:r>
            <a:endParaRPr lang="en-GB" sz="1800" b="0" u="none" strike="noStrike">
              <a:solidFill>
                <a:srgbClr val="000000"/>
              </a:solidFill>
              <a:effectLst/>
              <a:uFillTx/>
              <a:latin typeface="Arial"/>
            </a:endParaRPr>
          </a:p>
        </p:txBody>
      </p:sp>
      <p:sp>
        <p:nvSpPr>
          <p:cNvPr id="106" name="TextBox 3"/>
          <p:cNvSpPr/>
          <p:nvPr/>
        </p:nvSpPr>
        <p:spPr>
          <a:xfrm>
            <a:off x="1097280" y="1600200"/>
            <a:ext cx="9966600" cy="223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Zero Trust becomes operational when access is enforced at practical control points such as gateways, remote access sessions, and segmented network boundaries. Stronger secure access and microsegmentation should limit lateral movement and unauthorized changes, thereby improving OT cyber resilience in smart factories.</a:t>
            </a:r>
            <a:endParaRPr lang="en-GB" sz="1600" b="0" u="none" strike="noStrike">
              <a:solidFill>
                <a:srgbClr val="000000"/>
              </a:solidFill>
              <a:effectLst/>
              <a:uFillTx/>
              <a:latin typeface="Arial"/>
            </a:endParaRPr>
          </a:p>
        </p:txBody>
      </p:sp>
      <p:sp>
        <p:nvSpPr>
          <p:cNvPr id="107" name="TextBox 4"/>
          <p:cNvSpPr/>
          <p:nvPr/>
        </p:nvSpPr>
        <p:spPr>
          <a:xfrm>
            <a:off x="1005840" y="4069080"/>
            <a:ext cx="44802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Key supporting studies</a:t>
            </a:r>
            <a:endParaRPr lang="en-GB" sz="1800" b="0" u="none" strike="noStrike">
              <a:solidFill>
                <a:srgbClr val="000000"/>
              </a:solidFill>
              <a:effectLst/>
              <a:uFillTx/>
              <a:latin typeface="Arial"/>
            </a:endParaRPr>
          </a:p>
        </p:txBody>
      </p:sp>
      <p:sp>
        <p:nvSpPr>
          <p:cNvPr id="108" name="TextBox 5"/>
          <p:cNvSpPr/>
          <p:nvPr/>
        </p:nvSpPr>
        <p:spPr>
          <a:xfrm>
            <a:off x="1097280" y="4407480"/>
            <a:ext cx="9966600" cy="52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707070"/>
                </a:solidFill>
                <a:effectLst/>
                <a:uFillTx/>
                <a:latin typeface="Georgia"/>
              </a:rPr>
              <a:t>Based on Paul and Rao (2023), Wolfart et al. (2021), Fonseca et al. (2024), and ISA/IEC 62443.</a:t>
            </a:r>
            <a:endParaRPr lang="en-GB" sz="1600" b="0" u="none" strike="noStrike">
              <a:solidFill>
                <a:srgbClr val="000000"/>
              </a:solidFill>
              <a:effectLst/>
              <a:uFillTx/>
              <a:latin typeface="Arial"/>
            </a:endParaRPr>
          </a:p>
        </p:txBody>
      </p:sp>
      <p:sp>
        <p:nvSpPr>
          <p:cNvPr id="109" name="Rectangle 6"/>
          <p:cNvSpPr/>
          <p:nvPr/>
        </p:nvSpPr>
        <p:spPr>
          <a:xfrm>
            <a:off x="1051560" y="5193720"/>
            <a:ext cx="10012320" cy="968400"/>
          </a:xfrm>
          <a:prstGeom prst="rect">
            <a:avLst/>
          </a:prstGeom>
          <a:solidFill>
            <a:srgbClr val="e5e5e5"/>
          </a:solidFill>
          <a:ln w="1397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0" name="TextBox 7"/>
          <p:cNvSpPr/>
          <p:nvPr/>
        </p:nvSpPr>
        <p:spPr>
          <a:xfrm>
            <a:off x="1188720" y="5413320"/>
            <a:ext cx="9646560" cy="292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000000"/>
                </a:solidFill>
                <a:effectLst/>
                <a:uFillTx/>
                <a:latin typeface="Georgia"/>
              </a:rPr>
              <a:t>H3: The level of secure access and microsegmentation is positively related to OT cyber resilience in smart factories.</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Hypothesis 4 development</a:t>
            </a:r>
            <a:endParaRPr lang="en-GB" sz="2400" b="0" u="none" strike="noStrike">
              <a:solidFill>
                <a:srgbClr val="000000"/>
              </a:solidFill>
              <a:effectLst/>
              <a:uFillTx/>
              <a:latin typeface="Arial"/>
            </a:endParaRPr>
          </a:p>
        </p:txBody>
      </p:sp>
      <p:sp>
        <p:nvSpPr>
          <p:cNvPr id="112" name="TextBox 2"/>
          <p:cNvSpPr/>
          <p:nvPr/>
        </p:nvSpPr>
        <p:spPr>
          <a:xfrm>
            <a:off x="1005840" y="1234440"/>
            <a:ext cx="40230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Theoretical logic</a:t>
            </a:r>
            <a:endParaRPr lang="en-GB" sz="1800" b="0" u="none" strike="noStrike">
              <a:solidFill>
                <a:srgbClr val="000000"/>
              </a:solidFill>
              <a:effectLst/>
              <a:uFillTx/>
              <a:latin typeface="Arial"/>
            </a:endParaRPr>
          </a:p>
        </p:txBody>
      </p:sp>
      <p:sp>
        <p:nvSpPr>
          <p:cNvPr id="113" name="TextBox 3"/>
          <p:cNvSpPr/>
          <p:nvPr/>
        </p:nvSpPr>
        <p:spPr>
          <a:xfrm>
            <a:off x="1097280" y="1600200"/>
            <a:ext cx="9966600" cy="223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If Zero Trust maturity leads to stronger secure access and microsegmentation, and those controls improve OT cyber resilience, then part of the effect of Zero Trust should operate through this enforcement mechanism. The mediating role is therefore the path that connects strategic maturity to practical, resilience-relevant control execution.</a:t>
            </a:r>
            <a:endParaRPr lang="en-GB" sz="1600" b="0" u="none" strike="noStrike">
              <a:solidFill>
                <a:srgbClr val="000000"/>
              </a:solidFill>
              <a:effectLst/>
              <a:uFillTx/>
              <a:latin typeface="Arial"/>
            </a:endParaRPr>
          </a:p>
        </p:txBody>
      </p:sp>
      <p:sp>
        <p:nvSpPr>
          <p:cNvPr id="114" name="TextBox 4"/>
          <p:cNvSpPr/>
          <p:nvPr/>
        </p:nvSpPr>
        <p:spPr>
          <a:xfrm>
            <a:off x="1005840" y="4069080"/>
            <a:ext cx="44802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Key supporting studies</a:t>
            </a:r>
            <a:endParaRPr lang="en-GB" sz="1800" b="0" u="none" strike="noStrike">
              <a:solidFill>
                <a:srgbClr val="000000"/>
              </a:solidFill>
              <a:effectLst/>
              <a:uFillTx/>
              <a:latin typeface="Arial"/>
            </a:endParaRPr>
          </a:p>
        </p:txBody>
      </p:sp>
      <p:sp>
        <p:nvSpPr>
          <p:cNvPr id="115" name="TextBox 5"/>
          <p:cNvSpPr/>
          <p:nvPr/>
        </p:nvSpPr>
        <p:spPr>
          <a:xfrm>
            <a:off x="1097280" y="4407480"/>
            <a:ext cx="9966600" cy="52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707070"/>
                </a:solidFill>
                <a:effectLst/>
                <a:uFillTx/>
                <a:latin typeface="Georgia"/>
              </a:rPr>
              <a:t>Based on Rose et al. (2020), Paul and Rao (2023), Wolfart et al. (2021), and Fonseca et al. (2024).</a:t>
            </a:r>
            <a:endParaRPr lang="en-GB" sz="1600" b="0" u="none" strike="noStrike">
              <a:solidFill>
                <a:srgbClr val="000000"/>
              </a:solidFill>
              <a:effectLst/>
              <a:uFillTx/>
              <a:latin typeface="Arial"/>
            </a:endParaRPr>
          </a:p>
        </p:txBody>
      </p:sp>
      <p:sp>
        <p:nvSpPr>
          <p:cNvPr id="116" name="Rectangle 6"/>
          <p:cNvSpPr/>
          <p:nvPr/>
        </p:nvSpPr>
        <p:spPr>
          <a:xfrm>
            <a:off x="1051560" y="5193720"/>
            <a:ext cx="10012320" cy="930600"/>
          </a:xfrm>
          <a:prstGeom prst="rect">
            <a:avLst/>
          </a:prstGeom>
          <a:solidFill>
            <a:srgbClr val="e5e5e5"/>
          </a:solidFill>
          <a:ln w="1397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7" name="TextBox 7"/>
          <p:cNvSpPr/>
          <p:nvPr/>
        </p:nvSpPr>
        <p:spPr>
          <a:xfrm>
            <a:off x="1188720" y="5413320"/>
            <a:ext cx="9646560" cy="292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000000"/>
                </a:solidFill>
                <a:effectLst/>
                <a:uFillTx/>
                <a:latin typeface="Georgia"/>
              </a:rPr>
              <a:t>H4: Secure access and microsegmentation mediates the relationship between Zero Trust maturity and OT cyber resilience in smart factories.</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Hypothesis 5 development</a:t>
            </a:r>
            <a:endParaRPr lang="en-GB" sz="2400" b="0" u="none" strike="noStrike">
              <a:solidFill>
                <a:srgbClr val="000000"/>
              </a:solidFill>
              <a:effectLst/>
              <a:uFillTx/>
              <a:latin typeface="Arial"/>
            </a:endParaRPr>
          </a:p>
        </p:txBody>
      </p:sp>
      <p:sp>
        <p:nvSpPr>
          <p:cNvPr id="119" name="TextBox 2"/>
          <p:cNvSpPr/>
          <p:nvPr/>
        </p:nvSpPr>
        <p:spPr>
          <a:xfrm>
            <a:off x="1005840" y="1234440"/>
            <a:ext cx="40230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Theoretical logic</a:t>
            </a:r>
            <a:endParaRPr lang="en-GB" sz="1800" b="0" u="none" strike="noStrike">
              <a:solidFill>
                <a:srgbClr val="000000"/>
              </a:solidFill>
              <a:effectLst/>
              <a:uFillTx/>
              <a:latin typeface="Arial"/>
            </a:endParaRPr>
          </a:p>
        </p:txBody>
      </p:sp>
      <p:sp>
        <p:nvSpPr>
          <p:cNvPr id="120" name="TextBox 3"/>
          <p:cNvSpPr/>
          <p:nvPr/>
        </p:nvSpPr>
        <p:spPr>
          <a:xfrm>
            <a:off x="1097280" y="1600200"/>
            <a:ext cx="9966600" cy="223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Legacy-intensive factories often rely on systems that lack modern logging, encryption, patchability, or clear documentation. These constraints make it harder to convert Zero Trust intentions into secure access architecture and effective segmentation, so the first-stage implementation effect should be weaker when legacy system complexity is higher.</a:t>
            </a:r>
            <a:endParaRPr lang="en-GB" sz="1600" b="0" u="none" strike="noStrike">
              <a:solidFill>
                <a:srgbClr val="000000"/>
              </a:solidFill>
              <a:effectLst/>
              <a:uFillTx/>
              <a:latin typeface="Arial"/>
            </a:endParaRPr>
          </a:p>
        </p:txBody>
      </p:sp>
      <p:sp>
        <p:nvSpPr>
          <p:cNvPr id="121" name="TextBox 4"/>
          <p:cNvSpPr/>
          <p:nvPr/>
        </p:nvSpPr>
        <p:spPr>
          <a:xfrm>
            <a:off x="1005840" y="4069080"/>
            <a:ext cx="44802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Key supporting studies</a:t>
            </a:r>
            <a:endParaRPr lang="en-GB" sz="1800" b="0" u="none" strike="noStrike">
              <a:solidFill>
                <a:srgbClr val="000000"/>
              </a:solidFill>
              <a:effectLst/>
              <a:uFillTx/>
              <a:latin typeface="Arial"/>
            </a:endParaRPr>
          </a:p>
        </p:txBody>
      </p:sp>
      <p:sp>
        <p:nvSpPr>
          <p:cNvPr id="122" name="TextBox 5"/>
          <p:cNvSpPr/>
          <p:nvPr/>
        </p:nvSpPr>
        <p:spPr>
          <a:xfrm>
            <a:off x="1097280" y="4407480"/>
            <a:ext cx="9966600" cy="52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707070"/>
                </a:solidFill>
                <a:effectLst/>
                <a:uFillTx/>
                <a:latin typeface="Georgia"/>
              </a:rPr>
              <a:t>Based on Abu Bakar et al. (2021, 2022), Wolfart et al. (2021), Favero et al. (2025), and Fonseca et al. (2024).</a:t>
            </a:r>
            <a:endParaRPr lang="en-GB" sz="1600" b="0" u="none" strike="noStrike">
              <a:solidFill>
                <a:srgbClr val="000000"/>
              </a:solidFill>
              <a:effectLst/>
              <a:uFillTx/>
              <a:latin typeface="Arial"/>
            </a:endParaRPr>
          </a:p>
        </p:txBody>
      </p:sp>
      <p:sp>
        <p:nvSpPr>
          <p:cNvPr id="123" name="Rectangle 6"/>
          <p:cNvSpPr/>
          <p:nvPr/>
        </p:nvSpPr>
        <p:spPr>
          <a:xfrm>
            <a:off x="1051560" y="5193720"/>
            <a:ext cx="10012320" cy="968400"/>
          </a:xfrm>
          <a:prstGeom prst="rect">
            <a:avLst/>
          </a:prstGeom>
          <a:solidFill>
            <a:srgbClr val="e5e5e5"/>
          </a:solidFill>
          <a:ln w="1397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4" name="TextBox 7"/>
          <p:cNvSpPr/>
          <p:nvPr/>
        </p:nvSpPr>
        <p:spPr>
          <a:xfrm>
            <a:off x="1188720" y="5413320"/>
            <a:ext cx="9646560" cy="292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000000"/>
                </a:solidFill>
                <a:effectLst/>
                <a:uFillTx/>
                <a:latin typeface="Georgia"/>
              </a:rPr>
              <a:t>H5: Legacy system complexity negatively moderates the relationship between Zero Trust maturity and the level of secure access and microsegmentation in smart factories.</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Hypothesis 6 development</a:t>
            </a:r>
            <a:endParaRPr lang="en-GB" sz="2400" b="0" u="none" strike="noStrike">
              <a:solidFill>
                <a:srgbClr val="000000"/>
              </a:solidFill>
              <a:effectLst/>
              <a:uFillTx/>
              <a:latin typeface="Arial"/>
            </a:endParaRPr>
          </a:p>
        </p:txBody>
      </p:sp>
      <p:sp>
        <p:nvSpPr>
          <p:cNvPr id="126" name="TextBox 2"/>
          <p:cNvSpPr/>
          <p:nvPr/>
        </p:nvSpPr>
        <p:spPr>
          <a:xfrm>
            <a:off x="1005840" y="1234440"/>
            <a:ext cx="40230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Theoretical logic</a:t>
            </a:r>
            <a:endParaRPr lang="en-GB" sz="1800" b="0" u="none" strike="noStrike">
              <a:solidFill>
                <a:srgbClr val="000000"/>
              </a:solidFill>
              <a:effectLst/>
              <a:uFillTx/>
              <a:latin typeface="Arial"/>
            </a:endParaRPr>
          </a:p>
        </p:txBody>
      </p:sp>
      <p:sp>
        <p:nvSpPr>
          <p:cNvPr id="127" name="TextBox 3"/>
          <p:cNvSpPr/>
          <p:nvPr/>
        </p:nvSpPr>
        <p:spPr>
          <a:xfrm>
            <a:off x="1097280" y="1600200"/>
            <a:ext cx="9966600" cy="223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Standards give factories a shared control language, clearer governance expectations, and more consistent implementation patterns across IT and OT teams. When secure access and microsegmentation are implemented in a standards-aligned environment, those controls should be applied more consistently, audited more effectively, and integrated better into response and recovery practices, making their positive effect on OT cyber resilience stronger.</a:t>
            </a:r>
            <a:endParaRPr lang="en-GB" sz="1600" b="0" u="none" strike="noStrike">
              <a:solidFill>
                <a:srgbClr val="000000"/>
              </a:solidFill>
              <a:effectLst/>
              <a:uFillTx/>
              <a:latin typeface="Arial"/>
            </a:endParaRPr>
          </a:p>
        </p:txBody>
      </p:sp>
      <p:sp>
        <p:nvSpPr>
          <p:cNvPr id="128" name="TextBox 4"/>
          <p:cNvSpPr/>
          <p:nvPr/>
        </p:nvSpPr>
        <p:spPr>
          <a:xfrm>
            <a:off x="1005840" y="4069080"/>
            <a:ext cx="4480200" cy="31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1" u="none" strike="noStrike">
                <a:solidFill>
                  <a:srgbClr val="000000"/>
                </a:solidFill>
                <a:effectLst/>
                <a:uFillTx/>
                <a:latin typeface="Georgia"/>
              </a:rPr>
              <a:t>Key supporting studies</a:t>
            </a:r>
            <a:endParaRPr lang="en-GB" sz="1800" b="0" u="none" strike="noStrike">
              <a:solidFill>
                <a:srgbClr val="000000"/>
              </a:solidFill>
              <a:effectLst/>
              <a:uFillTx/>
              <a:latin typeface="Arial"/>
            </a:endParaRPr>
          </a:p>
        </p:txBody>
      </p:sp>
      <p:sp>
        <p:nvSpPr>
          <p:cNvPr id="129" name="TextBox 5"/>
          <p:cNvSpPr/>
          <p:nvPr/>
        </p:nvSpPr>
        <p:spPr>
          <a:xfrm>
            <a:off x="1097280" y="4407480"/>
            <a:ext cx="9966600" cy="529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707070"/>
                </a:solidFill>
                <a:effectLst/>
                <a:uFillTx/>
                <a:latin typeface="Georgia"/>
              </a:rPr>
              <a:t>Based on Abdullahi and Lazarova-Molnar (2025), CISA (2023a, 2023b), ISA/IEC 62443, and NIST OT guidance.</a:t>
            </a:r>
            <a:endParaRPr lang="en-GB" sz="1600" b="0" u="none" strike="noStrike">
              <a:solidFill>
                <a:srgbClr val="000000"/>
              </a:solidFill>
              <a:effectLst/>
              <a:uFillTx/>
              <a:latin typeface="Arial"/>
            </a:endParaRPr>
          </a:p>
        </p:txBody>
      </p:sp>
      <p:sp>
        <p:nvSpPr>
          <p:cNvPr id="130" name="Rectangle 6"/>
          <p:cNvSpPr/>
          <p:nvPr/>
        </p:nvSpPr>
        <p:spPr>
          <a:xfrm>
            <a:off x="1051560" y="5193720"/>
            <a:ext cx="10012320" cy="1006560"/>
          </a:xfrm>
          <a:prstGeom prst="rect">
            <a:avLst/>
          </a:prstGeom>
          <a:solidFill>
            <a:srgbClr val="e5e5e5"/>
          </a:solidFill>
          <a:ln w="1397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1" name="TextBox 7"/>
          <p:cNvSpPr/>
          <p:nvPr/>
        </p:nvSpPr>
        <p:spPr>
          <a:xfrm>
            <a:off x="1188720" y="5413320"/>
            <a:ext cx="9646560" cy="292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1" u="none" strike="noStrike">
                <a:solidFill>
                  <a:srgbClr val="000000"/>
                </a:solidFill>
                <a:effectLst/>
                <a:uFillTx/>
                <a:latin typeface="Georgia"/>
              </a:rPr>
              <a:t>H6: Standards alignment positively moderates the relationship between the level of secure access and microsegmentation and OT cyber resilience in smart factories.</a:t>
            </a: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2"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All hypotheses</a:t>
            </a:r>
            <a:endParaRPr lang="en-GB" sz="2400" b="0" u="none" strike="noStrike">
              <a:solidFill>
                <a:srgbClr val="000000"/>
              </a:solidFill>
              <a:effectLst/>
              <a:uFillTx/>
              <a:latin typeface="Arial"/>
            </a:endParaRPr>
          </a:p>
        </p:txBody>
      </p:sp>
      <p:sp>
        <p:nvSpPr>
          <p:cNvPr id="133" name="TextBox 2"/>
          <p:cNvSpPr/>
          <p:nvPr/>
        </p:nvSpPr>
        <p:spPr>
          <a:xfrm>
            <a:off x="1097280" y="1325880"/>
            <a:ext cx="10058040" cy="493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600" b="0" u="none" strike="noStrike">
                <a:solidFill>
                  <a:srgbClr val="000000"/>
                </a:solidFill>
                <a:effectLst/>
                <a:uFillTx/>
                <a:latin typeface="Georgia"/>
              </a:rPr>
              <a:t>H1    Zero Trust implementation maturity is positively related to OT cyber resilience in smart factories.</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H2    Zero Trust maturity is positively related to the level of secure access and microsegmentation in smart factories.</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H3    The level of secure access and microsegmentation is positively related to OT cyber resilience in smart factories.</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H4    Secure access and microsegmentation mediates the relationship between Zero Trust maturity and OT cyber resilience in smart factories.</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H5    Legacy system complexity negatively moderates the relationship between Zero Trust maturity and the level of secure access and microsegmentation in smart factories.</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Georgia"/>
              </a:rPr>
              <a:t>H6    Standards alignment positively moderates the relationship between the level of secure access and microsegmentation and OT cyber resilience in smart factories.</a:t>
            </a:r>
            <a:endParaRPr lang="en-GB" sz="1600" b="0" u="none" strike="noStrike">
              <a:solidFill>
                <a:srgbClr val="000000"/>
              </a:solidFill>
              <a:effectLst/>
              <a:uFillTx/>
              <a:latin typeface="Arial"/>
            </a:endParaRPr>
          </a:p>
          <a:p>
            <a:pPr defTabSz="457200">
              <a:lnSpc>
                <a:spcPct val="100000"/>
              </a:lnSpc>
            </a:pPr>
            <a:endParaRPr lang="en-GB"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Research methods</a:t>
            </a:r>
            <a:endParaRPr lang="en-GB" sz="2400" b="0" u="none" strike="noStrike">
              <a:solidFill>
                <a:srgbClr val="000000"/>
              </a:solidFill>
              <a:effectLst/>
              <a:uFillTx/>
              <a:latin typeface="Arial"/>
            </a:endParaRPr>
          </a:p>
        </p:txBody>
      </p:sp>
      <p:sp>
        <p:nvSpPr>
          <p:cNvPr id="135" name="TextBox 2"/>
          <p:cNvSpPr/>
          <p:nvPr/>
        </p:nvSpPr>
        <p:spPr>
          <a:xfrm>
            <a:off x="1097280" y="1325880"/>
            <a:ext cx="10195200" cy="4205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000000"/>
                </a:solidFill>
                <a:effectLst/>
                <a:uFillTx/>
                <a:latin typeface="Georgia"/>
              </a:rPr>
              <a:t>- Research design: conceptual and survey-ready thesis based on literature synthesis and secondary evidence.</a:t>
            </a:r>
            <a:endParaRPr lang="en-GB" sz="1700" b="0" u="none" strike="noStrike">
              <a:solidFill>
                <a:srgbClr val="000000"/>
              </a:solidFill>
              <a:effectLst/>
              <a:uFillTx/>
              <a:latin typeface="Arial"/>
            </a:endParaRPr>
          </a:p>
          <a:p>
            <a:pPr defTabSz="457200">
              <a:lnSpc>
                <a:spcPct val="100000"/>
              </a:lnSpc>
            </a:pPr>
            <a:r>
              <a:rPr lang="en-US" sz="1700" b="0" u="none" strike="noStrike">
                <a:solidFill>
                  <a:srgbClr val="000000"/>
                </a:solidFill>
                <a:effectLst/>
                <a:uFillTx/>
                <a:latin typeface="Georgia"/>
              </a:rPr>
              <a:t>- Evidence base: academic studies, NIST and CISA guidance, ISA/IEC 62443, MITRE ATT&amp;CK for ICS, and structured literature coding.</a:t>
            </a:r>
            <a:endParaRPr lang="en-GB" sz="1700" b="0" u="none" strike="noStrike">
              <a:solidFill>
                <a:srgbClr val="000000"/>
              </a:solidFill>
              <a:effectLst/>
              <a:uFillTx/>
              <a:latin typeface="Arial"/>
            </a:endParaRPr>
          </a:p>
          <a:p>
            <a:pPr defTabSz="457200">
              <a:lnSpc>
                <a:spcPct val="100000"/>
              </a:lnSpc>
            </a:pPr>
            <a:r>
              <a:rPr lang="en-US" sz="1700" b="0" u="none" strike="noStrike">
                <a:solidFill>
                  <a:srgbClr val="000000"/>
                </a:solidFill>
                <a:effectLst/>
                <a:uFillTx/>
                <a:latin typeface="Georgia"/>
              </a:rPr>
              <a:t>- Target respondents for future testing: OT cybersecurity, automation, plant IT, IIoT, and production professionals.</a:t>
            </a:r>
            <a:endParaRPr lang="en-GB" sz="1700" b="0" u="none" strike="noStrike">
              <a:solidFill>
                <a:srgbClr val="000000"/>
              </a:solidFill>
              <a:effectLst/>
              <a:uFillTx/>
              <a:latin typeface="Arial"/>
            </a:endParaRPr>
          </a:p>
          <a:p>
            <a:pPr defTabSz="457200">
              <a:lnSpc>
                <a:spcPct val="100000"/>
              </a:lnSpc>
            </a:pPr>
            <a:r>
              <a:rPr lang="en-US" sz="1700" b="0" u="none" strike="noStrike">
                <a:solidFill>
                  <a:srgbClr val="000000"/>
                </a:solidFill>
                <a:effectLst/>
                <a:uFillTx/>
                <a:latin typeface="Georgia"/>
              </a:rPr>
              <a:t>- Suggested sample for empirical testing: about 150-200 valid responses.</a:t>
            </a:r>
            <a:endParaRPr lang="en-GB" sz="1700" b="0" u="none" strike="noStrike">
              <a:solidFill>
                <a:srgbClr val="000000"/>
              </a:solidFill>
              <a:effectLst/>
              <a:uFillTx/>
              <a:latin typeface="Arial"/>
            </a:endParaRPr>
          </a:p>
          <a:p>
            <a:pPr defTabSz="457200">
              <a:lnSpc>
                <a:spcPct val="100000"/>
              </a:lnSpc>
            </a:pPr>
            <a:r>
              <a:rPr lang="en-US" sz="1700" b="0" u="none" strike="noStrike">
                <a:solidFill>
                  <a:srgbClr val="000000"/>
                </a:solidFill>
                <a:effectLst/>
                <a:uFillTx/>
                <a:latin typeface="Georgia"/>
              </a:rPr>
              <a:t>- Analysis plan for future testing: regression or PLS-SEM with mediation, first-path moderation by legacy complexity, and second-path moderation by standards alignment; interviews may extend the study in a mixed-methods design.</a:t>
            </a:r>
            <a:endParaRPr lang="en-GB"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TextBox 1"/>
          <p:cNvSpPr/>
          <p:nvPr/>
        </p:nvSpPr>
        <p:spPr>
          <a:xfrm>
            <a:off x="731520" y="411480"/>
            <a:ext cx="80463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1" u="none" strike="noStrike">
                <a:solidFill>
                  <a:srgbClr val="000000"/>
                </a:solidFill>
                <a:effectLst/>
                <a:uFillTx/>
                <a:latin typeface="Georgia"/>
              </a:rPr>
              <a:t>Measures</a:t>
            </a:r>
            <a:endParaRPr lang="en-GB" sz="2400" b="0" u="none" strike="noStrike">
              <a:solidFill>
                <a:srgbClr val="000000"/>
              </a:solidFill>
              <a:effectLst/>
              <a:uFillTx/>
              <a:latin typeface="Arial"/>
            </a:endParaRPr>
          </a:p>
        </p:txBody>
      </p:sp>
      <p:sp>
        <p:nvSpPr>
          <p:cNvPr id="137" name="TextBox 2"/>
          <p:cNvSpPr/>
          <p:nvPr/>
        </p:nvSpPr>
        <p:spPr>
          <a:xfrm>
            <a:off x="914400" y="960120"/>
            <a:ext cx="1033236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400" b="0" u="none" strike="noStrike">
                <a:solidFill>
                  <a:srgbClr val="707070"/>
                </a:solidFill>
                <a:effectLst/>
                <a:uFillTx/>
                <a:latin typeface="Georgia"/>
              </a:rPr>
              <a:t>Questionnaire structure: screening questions, Section A profile questions, Sections B-G five-point Likert constructs with N/A option, and Section H optional open-ended questions.</a:t>
            </a:r>
            <a:endParaRPr lang="en-GB" sz="1400" b="0" u="none" strike="noStrike">
              <a:solidFill>
                <a:srgbClr val="000000"/>
              </a:solidFill>
              <a:effectLst/>
              <a:uFillTx/>
              <a:latin typeface="Arial"/>
            </a:endParaRPr>
          </a:p>
        </p:txBody>
      </p:sp>
      <p:graphicFrame>
        <p:nvGraphicFramePr>
          <p:cNvPr id="138" name="Table 3"/>
          <p:cNvGraphicFramePr/>
          <p:nvPr/>
        </p:nvGraphicFramePr>
        <p:xfrm>
          <a:off x="868680" y="1508760"/>
          <a:ext cx="10469520" cy="4525920"/>
        </p:xfrm>
        <a:graphic>
          <a:graphicData uri="http://schemas.openxmlformats.org/drawingml/2006/table">
            <a:tbl>
              <a:tblPr/>
              <a:tblGrid>
                <a:gridCol w="3063240"/>
                <a:gridCol w="914400"/>
                <a:gridCol w="6492240"/>
              </a:tblGrid>
              <a:tr h="646560">
                <a:tc>
                  <a:txBody>
                    <a:bodyPr anchor="t">
                      <a:noAutofit/>
                    </a:bodyPr>
                    <a:p>
                      <a:pPr defTabSz="457200">
                        <a:lnSpc>
                          <a:spcPct val="100000"/>
                        </a:lnSpc>
                      </a:pPr>
                      <a:r>
                        <a:rPr lang="en-US" sz="1300" b="1" u="none" strike="noStrike">
                          <a:solidFill>
                            <a:srgbClr val="000000"/>
                          </a:solidFill>
                          <a:effectLst/>
                          <a:uFillTx/>
                          <a:latin typeface="Georgia"/>
                        </a:rPr>
                        <a:t>Construct</a:t>
                      </a:r>
                      <a:endParaRPr lang="en-GB"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5e5e5"/>
                    </a:solidFill>
                  </a:tcPr>
                </a:tc>
                <a:tc>
                  <a:txBody>
                    <a:bodyPr anchor="t">
                      <a:noAutofit/>
                    </a:bodyPr>
                    <a:p>
                      <a:pPr defTabSz="457200">
                        <a:lnSpc>
                          <a:spcPct val="100000"/>
                        </a:lnSpc>
                      </a:pPr>
                      <a:r>
                        <a:rPr lang="en-US" sz="1300" b="1" u="none" strike="noStrike">
                          <a:solidFill>
                            <a:srgbClr val="000000"/>
                          </a:solidFill>
                          <a:effectLst/>
                          <a:uFillTx/>
                          <a:latin typeface="Georgia"/>
                        </a:rPr>
                        <a:t>Items</a:t>
                      </a:r>
                      <a:endParaRPr lang="en-GB"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5e5e5"/>
                    </a:solidFill>
                  </a:tcPr>
                </a:tc>
                <a:tc>
                  <a:txBody>
                    <a:bodyPr anchor="t">
                      <a:noAutofit/>
                    </a:bodyPr>
                    <a:p>
                      <a:pPr defTabSz="457200">
                        <a:lnSpc>
                          <a:spcPct val="100000"/>
                        </a:lnSpc>
                      </a:pPr>
                      <a:r>
                        <a:rPr lang="en-US" sz="1300" b="1" u="none" strike="noStrike">
                          <a:solidFill>
                            <a:srgbClr val="000000"/>
                          </a:solidFill>
                          <a:effectLst/>
                          <a:uFillTx/>
                          <a:latin typeface="Georgia"/>
                        </a:rPr>
                        <a:t>Source basis</a:t>
                      </a:r>
                      <a:endParaRPr lang="en-GB"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5e5e5"/>
                    </a:solidFill>
                  </a:tcPr>
                </a:tc>
              </a:tr>
              <a:tr h="646560">
                <a:tc>
                  <a:txBody>
                    <a:bodyPr anchor="t">
                      <a:noAutofit/>
                    </a:bodyPr>
                    <a:p>
                      <a:pPr defTabSz="457200">
                        <a:lnSpc>
                          <a:spcPct val="100000"/>
                        </a:lnSpc>
                      </a:pPr>
                      <a:r>
                        <a:rPr lang="en-US" sz="1200" b="0" u="none" strike="noStrike">
                          <a:solidFill>
                            <a:srgbClr val="000000"/>
                          </a:solidFill>
                          <a:effectLst/>
                          <a:uFillTx/>
                          <a:latin typeface="Georgia"/>
                        </a:rPr>
                        <a:t>Zero Trust maturity</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200" b="0" u="none" strike="noStrike">
                          <a:solidFill>
                            <a:srgbClr val="000000"/>
                          </a:solidFill>
                          <a:effectLst/>
                          <a:uFillTx/>
                          <a:latin typeface="Georgia"/>
                        </a:rPr>
                        <a:t>7</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200" b="0" u="none" strike="noStrike">
                          <a:solidFill>
                            <a:srgbClr val="000000"/>
                          </a:solidFill>
                          <a:effectLst/>
                          <a:uFillTx/>
                          <a:latin typeface="Georgia"/>
                        </a:rPr>
                        <a:t>NIST SP 800-207; CISA ZTMM; Rose et al.</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646560">
                <a:tc>
                  <a:txBody>
                    <a:bodyPr anchor="t">
                      <a:noAutofit/>
                    </a:bodyPr>
                    <a:p>
                      <a:pPr defTabSz="457200">
                        <a:lnSpc>
                          <a:spcPct val="100000"/>
                        </a:lnSpc>
                      </a:pPr>
                      <a:r>
                        <a:rPr lang="en-US" sz="1200" b="0" u="none" strike="noStrike">
                          <a:solidFill>
                            <a:srgbClr val="000000"/>
                          </a:solidFill>
                          <a:effectLst/>
                          <a:uFillTx/>
                          <a:latin typeface="Georgia"/>
                        </a:rPr>
                        <a:t>Secure access and microseg.</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200" b="0" u="none" strike="noStrike">
                          <a:solidFill>
                            <a:srgbClr val="000000"/>
                          </a:solidFill>
                          <a:effectLst/>
                          <a:uFillTx/>
                          <a:latin typeface="Georgia"/>
                        </a:rPr>
                        <a:t>6</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200" b="0" u="none" strike="noStrike">
                          <a:solidFill>
                            <a:srgbClr val="000000"/>
                          </a:solidFill>
                          <a:effectLst/>
                          <a:uFillTx/>
                          <a:latin typeface="Georgia"/>
                        </a:rPr>
                        <a:t>Paul &amp; Rao; ISA/IEC 62443</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646560">
                <a:tc>
                  <a:txBody>
                    <a:bodyPr anchor="t">
                      <a:noAutofit/>
                    </a:bodyPr>
                    <a:p>
                      <a:pPr defTabSz="457200">
                        <a:lnSpc>
                          <a:spcPct val="100000"/>
                        </a:lnSpc>
                      </a:pPr>
                      <a:r>
                        <a:rPr lang="en-US" sz="1200" b="0" u="none" strike="noStrike">
                          <a:solidFill>
                            <a:srgbClr val="000000"/>
                          </a:solidFill>
                          <a:effectLst/>
                          <a:uFillTx/>
                          <a:latin typeface="Georgia"/>
                        </a:rPr>
                        <a:t>Legacy system complexity</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200" b="0" u="none" strike="noStrike">
                          <a:solidFill>
                            <a:srgbClr val="000000"/>
                          </a:solidFill>
                          <a:effectLst/>
                          <a:uFillTx/>
                          <a:latin typeface="Georgia"/>
                        </a:rPr>
                        <a:t>5</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200" b="0" u="none" strike="noStrike">
                          <a:solidFill>
                            <a:srgbClr val="000000"/>
                          </a:solidFill>
                          <a:effectLst/>
                          <a:uFillTx/>
                          <a:latin typeface="Georgia"/>
                        </a:rPr>
                        <a:t>Abu Bakar et al.; Wolfart et al.; Favero et al.</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646560">
                <a:tc>
                  <a:txBody>
                    <a:bodyPr anchor="t">
                      <a:noAutofit/>
                    </a:bodyPr>
                    <a:p>
                      <a:pPr defTabSz="457200">
                        <a:lnSpc>
                          <a:spcPct val="100000"/>
                        </a:lnSpc>
                      </a:pPr>
                      <a:r>
                        <a:rPr lang="en-US" sz="1200" b="0" u="none" strike="noStrike">
                          <a:solidFill>
                            <a:srgbClr val="000000"/>
                          </a:solidFill>
                          <a:effectLst/>
                          <a:uFillTx/>
                          <a:latin typeface="Georgia"/>
                        </a:rPr>
                        <a:t>Standards alignment</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200" b="0" u="none" strike="noStrike">
                          <a:solidFill>
                            <a:srgbClr val="000000"/>
                          </a:solidFill>
                          <a:effectLst/>
                          <a:uFillTx/>
                          <a:latin typeface="Georgia"/>
                        </a:rPr>
                        <a:t>5</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200" b="0" u="none" strike="noStrike">
                          <a:solidFill>
                            <a:srgbClr val="000000"/>
                          </a:solidFill>
                          <a:effectLst/>
                          <a:uFillTx/>
                          <a:latin typeface="Georgia"/>
                        </a:rPr>
                        <a:t>NIST; CISA; ISA/IEC 62443</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646560">
                <a:tc>
                  <a:txBody>
                    <a:bodyPr anchor="t">
                      <a:noAutofit/>
                    </a:bodyPr>
                    <a:p>
                      <a:pPr defTabSz="457200">
                        <a:lnSpc>
                          <a:spcPct val="100000"/>
                        </a:lnSpc>
                      </a:pPr>
                      <a:r>
                        <a:rPr lang="en-US" sz="1200" b="0" u="none" strike="noStrike">
                          <a:solidFill>
                            <a:srgbClr val="000000"/>
                          </a:solidFill>
                          <a:effectLst/>
                          <a:uFillTx/>
                          <a:latin typeface="Georgia"/>
                        </a:rPr>
                        <a:t>IT/OT governance</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200" b="0" u="none" strike="noStrike">
                          <a:solidFill>
                            <a:srgbClr val="000000"/>
                          </a:solidFill>
                          <a:effectLst/>
                          <a:uFillTx/>
                          <a:latin typeface="Georgia"/>
                        </a:rPr>
                        <a:t>5</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200" b="0" u="none" strike="noStrike">
                          <a:solidFill>
                            <a:srgbClr val="000000"/>
                          </a:solidFill>
                          <a:effectLst/>
                          <a:uFillTx/>
                          <a:latin typeface="Georgia"/>
                        </a:rPr>
                        <a:t>Medina et al.; NIST SP 800-82</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646560">
                <a:tc>
                  <a:txBody>
                    <a:bodyPr anchor="t">
                      <a:noAutofit/>
                    </a:bodyPr>
                    <a:p>
                      <a:pPr defTabSz="457200">
                        <a:lnSpc>
                          <a:spcPct val="100000"/>
                        </a:lnSpc>
                      </a:pPr>
                      <a:r>
                        <a:rPr lang="en-US" sz="1200" b="0" u="none" strike="noStrike">
                          <a:solidFill>
                            <a:srgbClr val="000000"/>
                          </a:solidFill>
                          <a:effectLst/>
                          <a:uFillTx/>
                          <a:latin typeface="Georgia"/>
                        </a:rPr>
                        <a:t>OT cyber resilience</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200" b="0" u="none" strike="noStrike">
                          <a:solidFill>
                            <a:srgbClr val="000000"/>
                          </a:solidFill>
                          <a:effectLst/>
                          <a:uFillTx/>
                          <a:latin typeface="Georgia"/>
                        </a:rPr>
                        <a:t>7</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200" b="0" u="none" strike="noStrike">
                          <a:solidFill>
                            <a:srgbClr val="000000"/>
                          </a:solidFill>
                          <a:effectLst/>
                          <a:uFillTx/>
                          <a:latin typeface="Georgia"/>
                        </a:rPr>
                        <a:t>NIST CSF 2.0; OT resilience literature</a:t>
                      </a:r>
                      <a:endParaRPr lang="en-GB"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9" name=""/>
          <p:cNvPicPr/>
          <p:nvPr/>
        </p:nvPicPr>
        <p:blipFill>
          <a:blip r:embed="rId1"/>
          <a:stretch/>
        </p:blipFill>
        <p:spPr>
          <a:xfrm>
            <a:off x="1080000" y="0"/>
            <a:ext cx="10037520" cy="70200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0" name=""/>
          <p:cNvPicPr/>
          <p:nvPr/>
        </p:nvPicPr>
        <p:blipFill>
          <a:blip r:embed="rId1"/>
          <a:stretch/>
        </p:blipFill>
        <p:spPr>
          <a:xfrm>
            <a:off x="1800000" y="0"/>
            <a:ext cx="8460000" cy="69570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51</TotalTime>
  <Application>LibreOffice/25.8.6.2$Linux_X86_64 LibreOffice_project/a46b460d1686bb49c718d2ef5f88b83ff2dc4981</Application>
  <AppVersion>15.0000</AppVersion>
  <Words>1589</Words>
  <Paragraphs>132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en-GB</dc:language>
  <cp:lastModifiedBy/>
  <cp:lastPrinted>2026-04-22T19:04:40Z</cp:lastPrinted>
  <dcterms:modified xsi:type="dcterms:W3CDTF">2026-04-22T19:04:45Z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14</vt:i4>
  </property>
</Properties>
</file>